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64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417"/>
              </a:gs>
              <a:gs pos="55000">
                <a:srgbClr val="12181B"/>
              </a:gs>
              <a:gs pos="100000">
                <a:srgbClr val="17272A"/>
              </a:gs>
            </a:gsLst>
            <a:lin ang="2700000" scaled="0"/>
          </a:gra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20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12800" y="2366020"/>
            <a:ext cx="9483725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Från blankt kravdokument till automatiserad testsvit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12800" y="3940820"/>
            <a:ext cx="94837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Hur vi använde Claude som QA-partner för att utforska en odokumenterad testmiljö, härleda krav och bygga en automatiserad testsvit.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867400"/>
            <a:ext cx="306095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C7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app-riksund-fe-underhallsplanering-test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17200" y="5867400"/>
            <a:ext cx="81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C7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2026-09-05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UTGÅNGSLÄGE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Ingen kravdokumentation fanns för dashboarden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730500"/>
            <a:ext cx="52324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Miljö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96416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app-riksund-fe-underhallsplanering-test.azurewebsites.net/dashboard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655020"/>
            <a:ext cx="52324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Dokumentation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888680"/>
            <a:ext cx="523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Fanns inte sedan tidigare — inga krav, inga testfall.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348411"/>
            <a:ext cx="52324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Uppdrag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582071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Logga in, utforska grundvyn systematiskt, och bygga upp krav och tester från grunden.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9200" y="2880965"/>
            <a:ext cx="5080000" cy="2012950"/>
          </a:xfrm>
          <a:prstGeom prst="roundRect">
            <a:avLst>
              <a:gd name="adj" fmla="val 3785"/>
            </a:avLst>
          </a:prstGeom>
          <a:solidFill>
            <a:srgbClr val="1B232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6311900" y="2880965"/>
            <a:ext cx="0" cy="2012950"/>
          </a:xfrm>
          <a:prstGeom prst="line">
            <a:avLst/>
          </a:prstGeom>
          <a:noFill/>
          <a:ln w="25400">
            <a:solidFill>
              <a:srgbClr val="5FD3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6629400" y="3236565"/>
            <a:ext cx="4578350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Kraven är härledda genom att logga in i testmiljön och systematiskt gå igenom varje synligt element på dashboardens grundvy.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4360515"/>
            <a:ext cx="45783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C7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Metodbeskrivning, krav-dashboard.md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ARBETSFLÖDE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Fem steg, en sammanhängande kedja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6855"/>
            <a:ext cx="1741140" cy="3851970"/>
          </a:xfrm>
          <a:prstGeom prst="roundRect">
            <a:avLst>
              <a:gd name="adj" fmla="val 5653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996950" y="2244030"/>
            <a:ext cx="142999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4747320"/>
            <a:ext cx="142999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Utforska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5021610"/>
            <a:ext cx="1429990" cy="58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Logga in och gå igenom varje synligt element manuellt.</a:t>
            </a:r>
            <a:endParaRPr lang="en-US" sz="105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9190" y="3855690"/>
            <a:ext cx="279400" cy="1143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0665" y="1986855"/>
            <a:ext cx="1741190" cy="3851970"/>
          </a:xfrm>
          <a:prstGeom prst="roundRect">
            <a:avLst>
              <a:gd name="adj" fmla="val 5653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7"/>
          <p:cNvSpPr/>
          <p:nvPr/>
        </p:nvSpPr>
        <p:spPr>
          <a:xfrm>
            <a:off x="3201640" y="2244030"/>
            <a:ext cx="14300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01640" y="4934000"/>
            <a:ext cx="14300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Härled krav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1640" y="5208290"/>
            <a:ext cx="1430040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krav i fyra områden, krav-dashboard.md.</a:t>
            </a:r>
            <a:endParaRPr lang="en-US" sz="105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53930" y="3855690"/>
            <a:ext cx="279400" cy="114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25405" y="1986855"/>
            <a:ext cx="1741140" cy="3851970"/>
          </a:xfrm>
          <a:prstGeom prst="roundRect">
            <a:avLst>
              <a:gd name="adj" fmla="val 5653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Text 11"/>
          <p:cNvSpPr/>
          <p:nvPr/>
        </p:nvSpPr>
        <p:spPr>
          <a:xfrm>
            <a:off x="5406380" y="2244030"/>
            <a:ext cx="142999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406380" y="4934000"/>
            <a:ext cx="142999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Skriv testfall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06380" y="5208290"/>
            <a:ext cx="1429990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testfall kopplade till kraven, testfall.md.</a:t>
            </a:r>
            <a:endParaRPr lang="en-US" sz="105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8620" y="3855690"/>
            <a:ext cx="2794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30095" y="1986855"/>
            <a:ext cx="1741190" cy="3851970"/>
          </a:xfrm>
          <a:prstGeom prst="roundRect">
            <a:avLst>
              <a:gd name="adj" fmla="val 5653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5"/>
          <p:cNvSpPr/>
          <p:nvPr/>
        </p:nvSpPr>
        <p:spPr>
          <a:xfrm>
            <a:off x="7611070" y="2244030"/>
            <a:ext cx="14300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611070" y="4934000"/>
            <a:ext cx="14300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Automatisera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611070" y="5208290"/>
            <a:ext cx="1430040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av 15 testfall som Playwright-specs.</a:t>
            </a:r>
            <a:endParaRPr lang="en-US" sz="105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3360" y="3855690"/>
            <a:ext cx="279400" cy="1143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34835" y="1986855"/>
            <a:ext cx="1741190" cy="3851970"/>
          </a:xfrm>
          <a:prstGeom prst="roundRect">
            <a:avLst>
              <a:gd name="adj" fmla="val 5653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19"/>
          <p:cNvSpPr/>
          <p:nvPr/>
        </p:nvSpPr>
        <p:spPr>
          <a:xfrm>
            <a:off x="9815810" y="2244030"/>
            <a:ext cx="14300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815810" y="4934000"/>
            <a:ext cx="14300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Rapportera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815810" y="5208290"/>
            <a:ext cx="1430040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fynd som färdiga Jira-utkast.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KRAV — KRAV-DASHBOARD.MD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krav, fyra områden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82080"/>
          <a:ext cx="10566400" cy="2362150"/>
        </p:xfrm>
        <a:graphic>
          <a:graphicData uri="http://schemas.openxmlformats.org/drawingml/2006/table">
            <a:tbl>
              <a:tblPr/>
              <a:tblGrid>
                <a:gridCol w="29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Område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Krav-ID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Antal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Exempel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 &amp; navigering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REQ-01–04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Endast SSO ska nå /dashboard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Underhållsplaner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REQ-05–08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Skapa och visa underhållsplaner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Extrafunktioner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REQ-09–10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Karta och AI-assistent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Sidfot &amp; info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REQ-11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Klickbara, tillgängliga länkar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6173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Status: samtliga krav antagna genom observation — inte ännu bekräftade med produktägare/utvecklare.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FRÅN GRÄNSSNITT TILL KRAV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Ett konkret exempel: kartfunktionen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6055"/>
            <a:ext cx="4908550" cy="3902770"/>
          </a:xfrm>
          <a:prstGeom prst="roundRect">
            <a:avLst>
              <a:gd name="adj" fmla="val 2522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23950" y="3317230"/>
            <a:ext cx="44213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00" dirty="0">
                <a:solidFill>
                  <a:srgbClr val="9FAD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3950" y="3622030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Kartknappen på grundvyn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950" y="3962350"/>
            <a:ext cx="442137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Flytande jordglob-knapp öppnar en modal: Karta — 52 av 70 planer har koordinater, med markörer per fastighet.</a:t>
            </a:r>
            <a:endParaRPr lang="en-US" sz="13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500" y="3804890"/>
            <a:ext cx="381000" cy="1651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67475" y="1936055"/>
            <a:ext cx="4908550" cy="3902770"/>
          </a:xfrm>
          <a:prstGeom prst="roundRect">
            <a:avLst>
              <a:gd name="adj" fmla="val 2522"/>
            </a:avLst>
          </a:prstGeom>
          <a:solidFill>
            <a:srgbClr val="17272A"/>
          </a:solidFill>
          <a:ln w="6350">
            <a:solidFill>
              <a:srgbClr val="5FD3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7"/>
          <p:cNvSpPr/>
          <p:nvPr/>
        </p:nvSpPr>
        <p:spPr>
          <a:xfrm>
            <a:off x="6775450" y="3069580"/>
            <a:ext cx="44213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0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REQ-09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75450" y="3374380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Kartvy med koordinatstatus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75450" y="3714700"/>
            <a:ext cx="442137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Systemet ska tillhandahålla en kartvy (Visa karta) som visar underhållsplaner med koordinater på en karta, och ange hur många av det totala antalet planer som har koordinater.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E295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FYND UNDER ANALYSEN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 avvikelser hittade genom systematisk genomgång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2880"/>
            <a:ext cx="3403600" cy="3909120"/>
          </a:xfrm>
          <a:prstGeom prst="roundRect">
            <a:avLst>
              <a:gd name="adj" fmla="val 2239"/>
            </a:avLst>
          </a:prstGeom>
          <a:solidFill>
            <a:srgbClr val="1B232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25500" y="1932880"/>
            <a:ext cx="0" cy="3909120"/>
          </a:xfrm>
          <a:prstGeom prst="line">
            <a:avLst/>
          </a:prstGeom>
          <a:noFill/>
          <a:ln w="25400">
            <a:solidFill>
              <a:srgbClr val="E2954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6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21868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2200" y="3451771"/>
            <a:ext cx="295630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Sidfotens länkar är en bild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2200" y="3738761"/>
            <a:ext cx="2956306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Cookies, Integritet, Om webbplatsen och Tillgänglighet ligger i en bakgrundsbild — inte klickbara, osynliga för skärmläsare.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2200" y="5410200"/>
            <a:ext cx="29563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295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REQ-11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94200" y="1932880"/>
            <a:ext cx="3403600" cy="3909120"/>
          </a:xfrm>
          <a:prstGeom prst="roundRect">
            <a:avLst>
              <a:gd name="adj" fmla="val 2239"/>
            </a:avLst>
          </a:prstGeom>
          <a:solidFill>
            <a:srgbClr val="1B232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Shape 8"/>
          <p:cNvSpPr/>
          <p:nvPr/>
        </p:nvSpPr>
        <p:spPr>
          <a:xfrm>
            <a:off x="4406900" y="1932880"/>
            <a:ext cx="0" cy="3909120"/>
          </a:xfrm>
          <a:prstGeom prst="line">
            <a:avLst/>
          </a:prstGeom>
          <a:noFill/>
          <a:ln w="25400">
            <a:solidFill>
              <a:srgbClr val="E2954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12" name="Image 1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3600" y="21868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3600" y="3451771"/>
            <a:ext cx="295630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Logga ut loggar inte ut ur SSO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73600" y="3738761"/>
            <a:ext cx="2956306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 rensar bara sin egen session — Microsofts SSO loggar tyst in användaren igen direkt.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73600" y="5410200"/>
            <a:ext cx="29563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295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REQ-03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975600" y="1932880"/>
            <a:ext cx="3403600" cy="3909120"/>
          </a:xfrm>
          <a:prstGeom prst="roundRect">
            <a:avLst>
              <a:gd name="adj" fmla="val 2239"/>
            </a:avLst>
          </a:prstGeom>
          <a:solidFill>
            <a:srgbClr val="1B232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3"/>
          <p:cNvSpPr/>
          <p:nvPr/>
        </p:nvSpPr>
        <p:spPr>
          <a:xfrm>
            <a:off x="7988300" y="1932880"/>
            <a:ext cx="0" cy="3909120"/>
          </a:xfrm>
          <a:prstGeom prst="line">
            <a:avLst/>
          </a:prstGeom>
          <a:noFill/>
          <a:ln w="25400">
            <a:solidFill>
              <a:srgbClr val="E2954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18" name="Image 2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55000" y="21868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55000" y="3451771"/>
            <a:ext cx="295630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Motstridiga siffror: 0 kontra 70 planer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55000" y="3738761"/>
            <a:ext cx="2956306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Grundvyn visar Inga planer skapade ännu, medan kartan samtidigt visar 52 av 70 planer med koordinater.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55000" y="5410200"/>
            <a:ext cx="29563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295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REQ-07 / REQ-08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TESTFALL — TESTFALL.MD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testfall kopplade till kraven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6680"/>
          <a:ext cx="10566400" cy="2101700"/>
        </p:xfrm>
        <a:graphic>
          <a:graphicData uri="http://schemas.openxmlformats.org/drawingml/2006/table">
            <a:tbl>
              <a:tblPr/>
              <a:tblGrid>
                <a:gridCol w="126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4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Test-ID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Krav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Steg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5FD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Förväntat resultat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TC-01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REQ-01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Navigera direkt till /dashboard, ingen session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Omdirigeras till Microsoft-inloggning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TC-07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REQ-03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Klicka Logga ut, navigera till /dashboard igen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954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Loggas tyst in igen via SSO — avvikelse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TC-12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REQ-08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Navigera till /dashboard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954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Inga planer skapade ännu — trots 70 på kartan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4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TC-15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9FAD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REQ-11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D7DE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Navigera till /dashboard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954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Sidfotslänkar ej klickbara — markerat test.fail()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>
                    <a:lnL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250482"/>
            <a:ext cx="10883392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Autentiserade testfall körs mot en sparad, gitignorad SSO-session (auth-state.json).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AUTOMATISERING — PLAYWRIGHT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av 15 testfall automatiserade i fem spec-filer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515840"/>
            <a:ext cx="5223718" cy="472430"/>
          </a:xfrm>
          <a:prstGeom prst="roundRect">
            <a:avLst>
              <a:gd name="adj" fmla="val 12769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996950" y="2658715"/>
            <a:ext cx="2225099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req-01-tc-01.unauth.spec.ts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37907" y="2663130"/>
            <a:ext cx="6716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 inloggad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5975" y="3083520"/>
            <a:ext cx="5223718" cy="472430"/>
          </a:xfrm>
          <a:prstGeom prst="roundRect">
            <a:avLst>
              <a:gd name="adj" fmla="val 12769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996950" y="3226395"/>
            <a:ext cx="3049202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omrade-a-auth-navigering.auth.spec.ts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65216" y="3230811"/>
            <a:ext cx="8443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TC-02, 06–08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975" y="3651200"/>
            <a:ext cx="5223718" cy="472430"/>
          </a:xfrm>
          <a:prstGeom prst="roundRect">
            <a:avLst>
              <a:gd name="adj" fmla="val 12769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996950" y="3794075"/>
            <a:ext cx="3131622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omrade-b-underhallsplaner.auth.spec.ts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82109" y="3798491"/>
            <a:ext cx="6274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TC-09–12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5975" y="4218880"/>
            <a:ext cx="5223718" cy="472430"/>
          </a:xfrm>
          <a:prstGeom prst="roundRect">
            <a:avLst>
              <a:gd name="adj" fmla="val 12769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996950" y="4361755"/>
            <a:ext cx="3049202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omrade-c-extrafunktioner.auth.spec.ts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82109" y="4366171"/>
            <a:ext cx="6274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FAD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TC-13–14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5975" y="4786561"/>
            <a:ext cx="5223718" cy="472430"/>
          </a:xfrm>
          <a:prstGeom prst="roundRect">
            <a:avLst>
              <a:gd name="adj" fmla="val 12769"/>
            </a:avLst>
          </a:prstGeom>
          <a:solidFill>
            <a:srgbClr val="1B2329"/>
          </a:solidFill>
          <a:ln w="6350">
            <a:solidFill>
              <a:srgbClr val="E2954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996950" y="4929436"/>
            <a:ext cx="2307519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omrade-d-sidfot.auth.spec.ts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54625" y="4933851"/>
            <a:ext cx="10548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295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TC-15, känd bugg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1643" y="1936055"/>
            <a:ext cx="4974382" cy="3902770"/>
          </a:xfrm>
          <a:prstGeom prst="roundRect">
            <a:avLst>
              <a:gd name="adj" fmla="val 2522"/>
            </a:avLst>
          </a:prstGeom>
          <a:solidFill>
            <a:srgbClr val="17272A"/>
          </a:solidFill>
          <a:ln w="6350">
            <a:solidFill>
              <a:srgbClr val="5FD3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6709618" y="3178770"/>
            <a:ext cx="448918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Två Playwright-projekt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09618" y="3529261"/>
            <a:ext cx="44891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unauthenticated kör mot ingen session. authenticated laddar en sparad session via storageState från auth-state.json.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09618" y="4138861"/>
            <a:ext cx="44891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auth-state.json är gitignorad — innehåller SSO-cookies och delas aldrig. Sessionen exporteras på nytt vid behov.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Kända buggar döljs inte — de dokumenteras i testsviten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841450"/>
            <a:ext cx="6217692" cy="3997375"/>
          </a:xfrm>
          <a:prstGeom prst="roundRect">
            <a:avLst>
              <a:gd name="adj" fmla="val 2145"/>
            </a:avLst>
          </a:prstGeom>
          <a:solidFill>
            <a:srgbClr val="0D1315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098550" y="28876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test.fail(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8550" y="31035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295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'TC-15 (REQ-11): Sidfoten har riktiga, klickbara länkar (känd avvikelse)',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8550" y="33194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D1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async ({ page }) =&gt;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8550" y="35353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D1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await page.goto('/dashboard');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8550" y="37512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D1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(const name of ['Cookies', 'Integritet', 'Om webbplatsen', 'Tillgänglighet']) {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8550" y="39671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D1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await expect(page.getByRole('link', { name })).toBeVisible();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8550" y="41830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D1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8550" y="43989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D1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8550" y="4614813"/>
            <a:ext cx="58221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41642" y="3046363"/>
            <a:ext cx="415868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test.fail() = förväntat att misslyckas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41642" y="3300363"/>
            <a:ext cx="4158685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Syns som en accepterad, förväntad status i rapporten — inte som ett trasigt test.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41642" y="3941713"/>
            <a:ext cx="415868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 dag buggen fixas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41642" y="4195713"/>
            <a:ext cx="4158685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Testet börjar oväntat lyckas — ta bort test.fail(), och det blir en vanlig, grön regressionstest.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211D"/>
              </a:gs>
              <a:gs pos="100000">
                <a:srgbClr val="123B33"/>
              </a:gs>
            </a:gsLst>
            <a:lin ang="2700000" scaled="0"/>
          </a:gra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RESULTAT I SIFFROR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dag, från blankt ark till testsvit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35919" y="3177530"/>
            <a:ext cx="1041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0"/>
              </a:lnSpc>
              <a:buNone/>
            </a:pPr>
            <a:r>
              <a:rPr lang="en-US" sz="6500" b="1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1118514" y="4434830"/>
            <a:ext cx="20254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FD9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krav härledda ur gränssnittet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2813" y="3177530"/>
            <a:ext cx="0" cy="1470620"/>
          </a:xfrm>
          <a:prstGeom prst="line">
            <a:avLst/>
          </a:prstGeom>
          <a:noFill/>
          <a:ln w="6350">
            <a:solidFill>
              <a:srgbClr val="2B534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4279106" y="3177530"/>
            <a:ext cx="1041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0"/>
              </a:lnSpc>
              <a:buNone/>
            </a:pPr>
            <a:r>
              <a:rPr lang="en-US" sz="6500" b="1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6500" dirty="0"/>
          </a:p>
        </p:txBody>
      </p:sp>
      <p:sp>
        <p:nvSpPr>
          <p:cNvPr id="9" name="Text 7"/>
          <p:cNvSpPr/>
          <p:nvPr/>
        </p:nvSpPr>
        <p:spPr>
          <a:xfrm>
            <a:off x="4247952" y="4434830"/>
            <a:ext cx="1052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FD9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testfall skrivna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0" y="3177530"/>
            <a:ext cx="0" cy="1470620"/>
          </a:xfrm>
          <a:prstGeom prst="line">
            <a:avLst/>
          </a:prstGeom>
          <a:noFill/>
          <a:ln w="6350">
            <a:solidFill>
              <a:srgbClr val="2B534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6179344" y="3177530"/>
            <a:ext cx="255079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0"/>
              </a:lnSpc>
              <a:buNone/>
            </a:pPr>
            <a:r>
              <a:rPr lang="en-US" sz="6500" b="1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13/15</a:t>
            </a:r>
            <a:endParaRPr lang="en-US" sz="6500" dirty="0"/>
          </a:p>
        </p:txBody>
      </p:sp>
      <p:sp>
        <p:nvSpPr>
          <p:cNvPr id="12" name="Text 10"/>
          <p:cNvSpPr/>
          <p:nvPr/>
        </p:nvSpPr>
        <p:spPr>
          <a:xfrm>
            <a:off x="6433453" y="4434830"/>
            <a:ext cx="19682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FD9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automatiserade i Playwright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9188" y="3177530"/>
            <a:ext cx="0" cy="1470620"/>
          </a:xfrm>
          <a:prstGeom prst="line">
            <a:avLst/>
          </a:prstGeom>
          <a:noFill/>
          <a:ln w="6350">
            <a:solidFill>
              <a:srgbClr val="2B534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9813131" y="3177530"/>
            <a:ext cx="5461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0"/>
              </a:lnSpc>
              <a:buNone/>
            </a:pPr>
            <a:r>
              <a:rPr lang="en-US" sz="6500" b="1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6500" dirty="0"/>
          </a:p>
        </p:txBody>
      </p:sp>
      <p:sp>
        <p:nvSpPr>
          <p:cNvPr id="15" name="Text 13"/>
          <p:cNvSpPr/>
          <p:nvPr/>
        </p:nvSpPr>
        <p:spPr>
          <a:xfrm>
            <a:off x="9210625" y="4434830"/>
            <a:ext cx="17002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FD9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avvikelser → Jira-utkast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FA7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FA7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LÄRDOMAR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Så bidrog Claude i arbetet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47540"/>
            <a:ext cx="10560050" cy="558800"/>
          </a:xfrm>
          <a:prstGeom prst="roundRect">
            <a:avLst>
              <a:gd name="adj" fmla="val 13068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5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232534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4150" y="2315815"/>
            <a:ext cx="66136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Systematisk UI-genomgång, element för element — inte en enda lång, ostrukturerad chatt.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5975" y="2865090"/>
            <a:ext cx="10560050" cy="558800"/>
          </a:xfrm>
          <a:prstGeom prst="roundRect">
            <a:avLst>
              <a:gd name="adj" fmla="val 13068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8" name="Image 1" descr="Lin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750" y="3042890"/>
            <a:ext cx="2032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4150" y="3033365"/>
            <a:ext cx="69398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spårbarhet: varje testfall (TC) pekar tillbaka på ett krav (REQ), varje krav på en observation.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5975" y="3582640"/>
            <a:ext cx="10560050" cy="558800"/>
          </a:xfrm>
          <a:prstGeom prst="roundRect">
            <a:avLst>
              <a:gd name="adj" fmla="val 13068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11" name="Image 2" descr="Cod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750" y="3760440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4150" y="3750915"/>
            <a:ext cx="74869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Playwright-kod skriven direkt utifrån testfallsmallen — mindre tomt blad, snabbare från testfall till kod.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15975" y="4300190"/>
            <a:ext cx="10560050" cy="558800"/>
          </a:xfrm>
          <a:prstGeom prst="roundRect">
            <a:avLst>
              <a:gd name="adj" fmla="val 13068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14" name="Image 3" descr="Cha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4477990"/>
            <a:ext cx="203200" cy="203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54150" y="4468465"/>
            <a:ext cx="75660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Osäkerheter dokumenterade som frågor till produktägaren — allt märkt antaget, inget bekräftat i förväg.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15975" y="5017740"/>
            <a:ext cx="10560050" cy="558800"/>
          </a:xfrm>
          <a:prstGeom prst="roundRect">
            <a:avLst>
              <a:gd name="adj" fmla="val 13068"/>
            </a:avLst>
          </a:prstGeom>
          <a:solidFill>
            <a:srgbClr val="1B2329"/>
          </a:solidFill>
          <a:ln w="6350">
            <a:solidFill>
              <a:srgbClr val="2A343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pic>
        <p:nvPicPr>
          <p:cNvPr id="17" name="Image 4" descr="CheckCircl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750" y="5195540"/>
            <a:ext cx="203200" cy="203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4150" y="5186015"/>
            <a:ext cx="70681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Kända buggar kodas som test.fail(), aldrig kommenteras bort — testsviten ljuger aldrig om status.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417"/>
              </a:gs>
              <a:gs pos="55000">
                <a:srgbClr val="12181B"/>
              </a:gs>
              <a:gs pos="100000">
                <a:srgbClr val="17272A"/>
              </a:gs>
            </a:gsLst>
            <a:lin ang="2700000" scaled="0"/>
          </a:gra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5FD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NÄSTA STEG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12800" y="11099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Vad händer härnäst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3176290"/>
            <a:ext cx="5232400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Bekräfta REQ-01–11 och avvikelserna tillsammans med produktägare/utvecklare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Klistra in de tre Jira-utkasten i jira-arenden.md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Kör hela sviten med npm test, fyll i de manuella TC-03–05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D7DE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Utforska Skapa- och Visa-flödena på djupet i nästa pass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87841" y="3468340"/>
            <a:ext cx="1959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5FD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Tack!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6273800"/>
            <a:ext cx="2276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RiksUnderhåll · QA med Claude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26800" y="6273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C66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Macintosh PowerPoint</Application>
  <PresentationFormat>Bredbild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12</vt:i4>
      </vt:variant>
    </vt:vector>
  </HeadingPairs>
  <TitlesOfParts>
    <vt:vector size="16" baseType="lpstr">
      <vt:lpstr>Arial</vt:lpstr>
      <vt:lpstr>IBM Plex Sans</vt:lpstr>
      <vt:lpstr>JetBrains Mono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RiksUnderhåll – Från blankt kravdokument till automatiserad testsvit</dc:title>
  <dc:subject>PptxGenJS Presentation</dc:subject>
  <dc:creator>PptxGenJS</dc:creator>
  <cp:lastModifiedBy>Stefan Rydin</cp:lastModifiedBy>
  <cp:revision>1</cp:revision>
  <dcterms:created xsi:type="dcterms:W3CDTF">2026-09-18T09:50:34Z</dcterms:created>
  <dcterms:modified xsi:type="dcterms:W3CDTF">2026-09-18T09:52:32Z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2026-09-18T09:52:31Z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332ba85c-c976-4f9a-9fec-fc423584c9ab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</Properties>
</file>